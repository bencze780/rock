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FF31CE-9116-C84C-9B8B-2196254869D0}" type="datetimeFigureOut">
              <a:rPr lang="hu-HU" smtClean="0"/>
              <a:t>2026. 02. 01.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791C99-160D-7842-BD24-A1D3976C35A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0197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Oktatói megjegyzés: A vizsgafeladatban a Postman az integrációs teszt volt. Most lemegyünk a piramis aljára, a kód szintjére.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Oktatói megjegyzés: Emeld ki a split és includes függvényeket.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Oktatói megjegyzés: Ez a teszt garantálja, hogy a 'napjainkig' szó kezelése működik.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Hangsúlyozd: Ha a jövőben a vizsgaszabályzat 2026-ra változik, csak átírod a kódot, lefuttatod a tesztet, és azonnal látod, ha elfelejtetted valahol frissíteni.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72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14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871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1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914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44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081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228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0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6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800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24951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5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09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7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52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099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393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019" y="1030406"/>
            <a:ext cx="6110785" cy="3081242"/>
          </a:xfrm>
        </p:spPr>
        <p:txBody>
          <a:bodyPr anchor="ctr">
            <a:normAutofit/>
          </a:bodyPr>
          <a:lstStyle/>
          <a:p>
            <a:r>
              <a:rPr lang="hu-HU" sz="4200">
                <a:solidFill>
                  <a:srgbClr val="FFFFFF"/>
                </a:solidFill>
              </a:rPr>
              <a:t>Unit Tesztelés a Gyakorlatban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57" y="5171093"/>
            <a:ext cx="6808971" cy="860620"/>
          </a:xfrm>
        </p:spPr>
        <p:txBody>
          <a:bodyPr anchor="ctr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hu-HU" sz="1500">
                <a:solidFill>
                  <a:srgbClr val="FFFFFF"/>
                </a:solidFill>
              </a:rPr>
              <a:t>Logika ellenőrzése Jest keretrendszerrel (Node.js)</a:t>
            </a:r>
          </a:p>
          <a:p>
            <a:pPr>
              <a:lnSpc>
                <a:spcPct val="90000"/>
              </a:lnSpc>
            </a:pPr>
            <a:endParaRPr lang="hu-HU" sz="150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hu-HU" sz="1500">
                <a:solidFill>
                  <a:srgbClr val="FFFFFF"/>
                </a:solidFill>
              </a:rPr>
              <a:t>2025.05.xx.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30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Miért tesztelünk? A Tesztelési Piramis</a:t>
            </a: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8" y="2548281"/>
            <a:ext cx="3841954" cy="365868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/>
              <a:t>• E2E (End-to-End):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/>
              <a:t>  - A teljes rendszer működése (pl. Cypress, Selenium).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/>
              <a:t>  - Lassú, drága.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30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/>
              <a:t>• Integration (Integrációs):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/>
              <a:t>  - Komponensek kapcsolata (pl. API + Adatbázis -&gt; Postman).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300"/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/>
              <a:t>• Unit (Egységteszt):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/>
              <a:t>  - A legkisebb kódrészletek (függvények) izolált vizsgálata.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300"/>
              <a:t>  - Gyors, olcsó.</a:t>
            </a:r>
          </a:p>
        </p:txBody>
      </p:sp>
      <p:pic>
        <p:nvPicPr>
          <p:cNvPr id="7" name="Kép 6" descr="A képen szöveg, Betűtípus, képernyőkép, háromszög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3EB3038-0DE3-4779-7215-8AFA6CCA0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937" y="3091343"/>
            <a:ext cx="4088720" cy="2575894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4927653" y="3671315"/>
            <a:ext cx="3793048" cy="254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228080"/>
            <a:ext cx="745301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rPr lang="hu-HU"/>
              <a:t>Mi az a Unit Teszt?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"/>
          </p:nvPr>
        </p:nvSpPr>
        <p:spPr>
          <a:xfrm>
            <a:off x="3731895" y="804671"/>
            <a:ext cx="4799948" cy="524865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hu-HU" sz="1700"/>
              <a:t>Definíció: Olyan módszer, ahol a forráskód egyedi egységeit (függvény) vizsgáljuk.</a:t>
            </a:r>
          </a:p>
          <a:p>
            <a:pPr>
              <a:lnSpc>
                <a:spcPct val="90000"/>
              </a:lnSpc>
            </a:pPr>
            <a:endParaRPr lang="hu-HU" sz="1700"/>
          </a:p>
          <a:p>
            <a:pPr>
              <a:lnSpc>
                <a:spcPct val="90000"/>
              </a:lnSpc>
            </a:pPr>
            <a:r>
              <a:rPr lang="hu-HU" sz="1700"/>
              <a:t>Előnyök:</a:t>
            </a:r>
          </a:p>
          <a:p>
            <a:pPr>
              <a:lnSpc>
                <a:spcPct val="90000"/>
              </a:lnSpc>
            </a:pPr>
            <a:r>
              <a:rPr lang="hu-HU" sz="1700"/>
              <a:t>• ⏱️ Gyors: Ezredmásodpercek alatt fut.</a:t>
            </a:r>
          </a:p>
          <a:p>
            <a:pPr>
              <a:lnSpc>
                <a:spcPct val="90000"/>
              </a:lnSpc>
            </a:pPr>
            <a:r>
              <a:rPr lang="hu-HU" sz="1700"/>
              <a:t>• 🛡️ Biztonság: Bátran módosíthatod a kódot (Refactoring).</a:t>
            </a:r>
          </a:p>
          <a:p>
            <a:pPr>
              <a:lnSpc>
                <a:spcPct val="90000"/>
              </a:lnSpc>
            </a:pPr>
            <a:r>
              <a:rPr lang="hu-HU" sz="1700"/>
              <a:t>• 📄 Dokumentáció: Megmutatja, hogyan kellene működnie a kódnak.</a:t>
            </a:r>
          </a:p>
          <a:p>
            <a:pPr>
              <a:lnSpc>
                <a:spcPct val="90000"/>
              </a:lnSpc>
            </a:pPr>
            <a:endParaRPr lang="hu-HU" sz="1700"/>
          </a:p>
          <a:p>
            <a:pPr>
              <a:lnSpc>
                <a:spcPct val="90000"/>
              </a:lnSpc>
            </a:pPr>
            <a:r>
              <a:rPr lang="hu-HU" sz="1700"/>
              <a:t>Módszertan (AAA):</a:t>
            </a:r>
          </a:p>
          <a:p>
            <a:pPr>
              <a:lnSpc>
                <a:spcPct val="90000"/>
              </a:lnSpc>
            </a:pPr>
            <a:r>
              <a:rPr lang="hu-HU" sz="1700"/>
              <a:t>1. Arrange (Előkészítés)</a:t>
            </a:r>
          </a:p>
          <a:p>
            <a:pPr>
              <a:lnSpc>
                <a:spcPct val="90000"/>
              </a:lnSpc>
            </a:pPr>
            <a:r>
              <a:rPr lang="hu-HU" sz="1700"/>
              <a:t>2. Act (Végrehajtás)</a:t>
            </a:r>
          </a:p>
          <a:p>
            <a:pPr>
              <a:lnSpc>
                <a:spcPct val="90000"/>
              </a:lnSpc>
            </a:pPr>
            <a:r>
              <a:rPr lang="hu-HU" sz="1700"/>
              <a:t>3. Assert (Ellenőrzés)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 vizsgafeladat problémája (Scenario)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Feladat: A frontendnek ki kell írnia, hány éve aktív egy zenekar.</a:t>
            </a:r>
          </a:p>
          <a:p>
            <a:endParaRPr/>
          </a:p>
          <a:p>
            <a:r>
              <a:t>Logika a dokumentációból:</a:t>
            </a:r>
          </a:p>
          <a:p>
            <a:r>
              <a:t>• Ha zárt intervallum (pl. "1970-1991"): Vég - Kezdet.</a:t>
            </a:r>
          </a:p>
          <a:p>
            <a:r>
              <a:t>• Ha nyitott (pl. "1973-napjainkig"): 2025 - Kezdet.</a:t>
            </a:r>
          </a:p>
          <a:p>
            <a:endParaRPr/>
          </a:p>
          <a:p>
            <a:r>
              <a:t>Kérdés: Hogyan győződünk meg róla, hogy a számítás mindig helyes, anélkül, hogy mindig elindítanánk a szervert?</a:t>
            </a:r>
          </a:p>
          <a:p>
            <a:endParaRPr/>
          </a:p>
          <a:p>
            <a:r>
              <a:t>Megoldás: Unit teszt!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 eszköz: Jest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Mi ez? A legnépszerűbb JavaScript tesztelő keretrendszer Node.js környezetben.</a:t>
            </a:r>
          </a:p>
          <a:p>
            <a:endParaRPr/>
          </a:p>
          <a:p>
            <a:r>
              <a:t>Telepítés:</a:t>
            </a:r>
          </a:p>
          <a:p>
            <a:r>
              <a:t>npm install --save-dev jest</a:t>
            </a:r>
          </a:p>
          <a:p>
            <a:endParaRPr/>
          </a:p>
          <a:p>
            <a:r>
              <a:t>Futtatás:</a:t>
            </a:r>
          </a:p>
          <a:p>
            <a:r>
              <a:t>npm test</a:t>
            </a:r>
          </a:p>
          <a:p>
            <a:endParaRPr/>
          </a:p>
          <a:p>
            <a:r>
              <a:t>Fájl elnevezés:</a:t>
            </a:r>
          </a:p>
          <a:p>
            <a:r>
              <a:t>A Jest automatikusan keresi a *.test.js végű fájlokat.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Lépés - A tiszta függvény (utils.js)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Hozzunk létre egy utils.js fájlt (adatbázis nélkül!):</a:t>
            </a:r>
          </a:p>
          <a:p>
            <a:pPr>
              <a:defRPr sz="1400">
                <a:latin typeface="Courier New"/>
              </a:defRPr>
            </a:pPr>
            <a:r>
              <a:t>function szamolAktivEveket(aktivEvekStr) {</a:t>
            </a:r>
            <a:br/>
            <a:r>
              <a:t>    const darabok = aktivEvekStr.split('-');</a:t>
            </a:r>
            <a:br/>
            <a:r>
              <a:t>    const kezdoEv = parseInt(darabok[0]);</a:t>
            </a:r>
            <a:br/>
            <a:r>
              <a:t>    let vegEv;</a:t>
            </a:r>
            <a:br/>
            <a:br/>
            <a:r>
              <a:t>    if (darabok[1].includes("napjainkig")) {</a:t>
            </a:r>
            <a:br/>
            <a:r>
              <a:t>        vegEv = 2025; // Vizsga szerinti fix év</a:t>
            </a:r>
            <a:br/>
            <a:r>
              <a:t>    } else {</a:t>
            </a:r>
            <a:br/>
            <a:r>
              <a:t>        vegEv = parseInt(darabok[1]);</a:t>
            </a:r>
            <a:br/>
            <a:r>
              <a:t>    }</a:t>
            </a:r>
            <a:br/>
            <a:r>
              <a:t>    return vegEv - kezdoEv;</a:t>
            </a:r>
            <a:br/>
            <a:r>
              <a:t>}</a:t>
            </a:r>
            <a:br/>
            <a:r>
              <a:t>module.exports = szamolAktivEveket;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Lépés - A Tesztfájl (utils.test.js)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A teszt szerkezete Jest-ben:</a:t>
            </a:r>
          </a:p>
          <a:p>
            <a:pPr>
              <a:defRPr sz="1400">
                <a:latin typeface="Courier New"/>
              </a:defRPr>
            </a:pPr>
            <a:r>
              <a:t>const szamolAktivEveket = require('./utils');</a:t>
            </a:r>
            <a:br/>
            <a:br/>
            <a:r>
              <a:t>describe('Aktív évek számítása', () =&gt; {</a:t>
            </a:r>
            <a:br/>
            <a:br/>
            <a:r>
              <a:t>    test('Lezárt időszak (pl. Queen)', () =&gt; {</a:t>
            </a:r>
            <a:br/>
            <a:r>
              <a:t>        // Arrange &amp; Act &amp; Assert egyben:</a:t>
            </a:r>
            <a:br/>
            <a:r>
              <a:t>        expect(szamolAktivEveket("1970-1991")).toBe(21);</a:t>
            </a:r>
            <a:br/>
            <a:r>
              <a:t>    });</a:t>
            </a:r>
            <a:br/>
            <a:br/>
            <a:r>
              <a:t>});</a:t>
            </a:r>
          </a:p>
          <a:p>
            <a:br/>
            <a:r>
              <a:t>Magyarázat:</a:t>
            </a:r>
            <a:br/>
            <a:r>
              <a:t>• describe: Tesztek csoportosítása</a:t>
            </a:r>
            <a:br/>
            <a:r>
              <a:t>• test: Egy konkrét eset</a:t>
            </a:r>
            <a:br/>
            <a:r>
              <a:t>• expect(...).toBe(...): Az elvárt eredmény vizsgálata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További tesztesetek (Corner cases)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 van, ha a zenekar még aktív?</a:t>
            </a:r>
          </a:p>
          <a:p>
            <a:pPr>
              <a:defRPr sz="1400">
                <a:latin typeface="Courier New"/>
              </a:defRPr>
            </a:pPr>
            <a:r>
              <a:t>test('Aktív zenekar (napjainkig -&gt; 2025)', () =&gt; {</a:t>
            </a:r>
            <a:br/>
            <a:r>
              <a:t>    const bemenet = "1973-napjainkig";</a:t>
            </a:r>
            <a:br/>
            <a:r>
              <a:t>    const elvart = 52; // 2025 - 1973</a:t>
            </a:r>
            <a:br/>
            <a:br/>
            <a:r>
              <a:t>    const eredmeny = szamolAktivEveket(bemenet);</a:t>
            </a:r>
            <a:br/>
            <a:br/>
            <a:r>
              <a:t>    expect(eredmeny).toBe(elvart);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Eredmény értelmezése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Kimenet a terminálban:</a:t>
            </a:r>
          </a:p>
          <a:p>
            <a:pPr>
              <a:defRPr sz="1600" b="1">
                <a:latin typeface="Courier New"/>
              </a:defRPr>
            </a:pPr>
            <a:r>
              <a:t>PASS  ./utils.test.js</a:t>
            </a:r>
            <a:br/>
            <a:r>
              <a:t>Aktív évek számítása</a:t>
            </a:r>
            <a:br/>
            <a:r>
              <a:t>  √ Lezárt időszak (pl. Queen) (2 ms)</a:t>
            </a:r>
            <a:br/>
            <a:r>
              <a:t>  √ Aktív zenekar (napjainkig -&gt; 2025) (1 ms)</a:t>
            </a:r>
            <a:br/>
            <a:br/>
            <a:r>
              <a:t>Test Suites: 1 passed, 1 total</a:t>
            </a:r>
            <a:br/>
            <a:r>
              <a:t>Tests:       2 passed, 2 total</a:t>
            </a:r>
          </a:p>
          <a:p>
            <a:br/>
            <a:r>
              <a:t>Ha hiba van (PIROS): A Jest megmondja, mit várt (Expected) és mit kapott (Received).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Összefoglalás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Mit tanultunk?</a:t>
            </a:r>
          </a:p>
          <a:p>
            <a:r>
              <a:t>• A Unit teszt a kód logikáját vizsgálja izoláltan.</a:t>
            </a:r>
          </a:p>
          <a:p>
            <a:r>
              <a:t>• A Postman (előző óra) a végpontokat és az adatbázist vizsgálja.</a:t>
            </a:r>
          </a:p>
          <a:p>
            <a:r>
              <a:t>• A Jest segítségével automatizálhatjuk az ellenőrzést.</a:t>
            </a:r>
          </a:p>
          <a:p>
            <a:endParaRPr/>
          </a:p>
          <a:p>
            <a:r>
              <a:t>Következő lépés:</a:t>
            </a:r>
          </a:p>
          <a:p>
            <a:r>
              <a:t>Készítsétek el a utils.test.js fájlt a projekt mappájában és futtassátok le!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787</Words>
  <Application>Microsoft Macintosh PowerPoint</Application>
  <PresentationFormat>Diavetítés a képernyőre (4:3 oldalarány)</PresentationFormat>
  <Paragraphs>74</Paragraphs>
  <Slides>10</Slides>
  <Notes>4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5" baseType="lpstr">
      <vt:lpstr>Aptos</vt:lpstr>
      <vt:lpstr>Arial</vt:lpstr>
      <vt:lpstr>Century Gothic</vt:lpstr>
      <vt:lpstr>Wingdings 3</vt:lpstr>
      <vt:lpstr>Ion</vt:lpstr>
      <vt:lpstr>Unit Tesztelés a Gyakorlatban</vt:lpstr>
      <vt:lpstr>Miért tesztelünk? A Tesztelési Piramis</vt:lpstr>
      <vt:lpstr>Mi az a Unit Teszt?</vt:lpstr>
      <vt:lpstr>A vizsgafeladat problémája (Scenario)</vt:lpstr>
      <vt:lpstr>Az eszköz: Jest</vt:lpstr>
      <vt:lpstr>1. Lépés - A tiszta függvény (utils.js)</vt:lpstr>
      <vt:lpstr>2. Lépés - A Tesztfájl (utils.test.js)</vt:lpstr>
      <vt:lpstr>További tesztesetek (Corner cases)</vt:lpstr>
      <vt:lpstr>Eredmény értelmezése</vt:lpstr>
      <vt:lpstr>Összefoglalás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Bencze István</cp:lastModifiedBy>
  <cp:revision>2</cp:revision>
  <dcterms:created xsi:type="dcterms:W3CDTF">2013-01-27T09:14:16Z</dcterms:created>
  <dcterms:modified xsi:type="dcterms:W3CDTF">2026-02-01T20:08:50Z</dcterms:modified>
  <cp:category/>
</cp:coreProperties>
</file>